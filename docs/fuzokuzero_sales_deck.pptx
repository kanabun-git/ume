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表紙。風俗Zeroは、エリア・ジャンルから店舗と在籍女の子を探せるポータル。本日は掲載メリットを3点に絞ってご説明します。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掲載範囲の全体像。1店舗の掲載で、店舗ページ・在籍女の子ページ・日記・出勤・クーポンまでカバーされます。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この3点を、次のスライドから順にご説明します。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体験動画は弊社で撮影・編集・アップロードまで実施。店舗様の手間はゼロという点を強調してください。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プレゼント企画は集客の目玉。SMS認証で応募者の質が担保される点、締切リマインドメールで再訪導線がある点が差別化。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他社ポータルはテンプレート固定が多い。こちらは店舗側で構成を組み替えられる点が強み。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同一店舗ページの標準/カスタム比較。ブランドカラーを持つ店舗様に刺さる訴求。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会員証は他ポータルにない機能。店舗のCRMをポータル側で持てるため、乗り換え障壁にもなる。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クーポンは「出して終わり」ではなく効果測定までできる点を訴求。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更新が続くかどうかが掲載効果を左右する。入力負担を下げる仕組みがある点を説明。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女の子の採用・定着の観点で刺さるポイント。同一システム・同一データのまま、URLと見た目だけを分けている。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掲載料の費用対効果を説明する材料。女の子単位で見られるのは他にあまりない。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機能の網羅性を見せるスライド。プラン料金はここでは出さず、別紙・口頭でご案内。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クロージング。料金は個別見積りである旨を伝え、次アクション(ヒアリング日程)を握る。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E0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4206240" cy="4206240"/>
          </a:xfrm>
          <a:prstGeom prst="ellipse">
            <a:avLst/>
          </a:prstGeom>
          <a:solidFill>
            <a:srgbClr val="E0356B">
              <a:alpha val="2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-2194560"/>
            <a:ext cx="3291840" cy="3291840"/>
          </a:xfrm>
          <a:prstGeom prst="ellipse">
            <a:avLst/>
          </a:prstGeom>
          <a:solidFill>
            <a:srgbClr val="7B3F98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26880" y="5120640"/>
            <a:ext cx="3840480" cy="3840480"/>
          </a:xfrm>
          <a:prstGeom prst="ellipse">
            <a:avLst/>
          </a:prstGeom>
          <a:solidFill>
            <a:srgbClr val="7B3F98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078992"/>
            <a:ext cx="416052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63500" dir="5400000">
              <a:srgbClr val="2E0714">
                <a:alpha val="34000"/>
              </a:srgbClr>
            </a:outerShdw>
          </a:effectLst>
        </p:spPr>
      </p:sp>
      <p:pic>
        <p:nvPicPr>
          <p:cNvPr id="6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261872"/>
            <a:ext cx="3776472" cy="12691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4436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C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GUIDE FOR SHOPS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321868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2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掲載のご案内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777240" y="413308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エリア・ジャンルから探せる風俗ポータルサイト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" y="4700016"/>
            <a:ext cx="1965960" cy="402336"/>
          </a:xfrm>
          <a:prstGeom prst="roundRect">
            <a:avLst>
              <a:gd name="adj" fmla="val 45455"/>
            </a:avLst>
          </a:prstGeom>
          <a:solidFill>
            <a:srgbClr val="E035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70001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体験動画 完全代行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834640" y="4700016"/>
            <a:ext cx="1691640" cy="402336"/>
          </a:xfrm>
          <a:prstGeom prst="roundRect">
            <a:avLst>
              <a:gd name="adj" fmla="val 45455"/>
            </a:avLst>
          </a:prstGeom>
          <a:solidFill>
            <a:srgbClr val="7B3F98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70001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プレゼント企画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17720" y="4700016"/>
            <a:ext cx="1874520" cy="402336"/>
          </a:xfrm>
          <a:prstGeom prst="roundRect">
            <a:avLst>
              <a:gd name="adj" fmla="val 45455"/>
            </a:avLst>
          </a:prstGeom>
          <a:solidFill>
            <a:srgbClr val="C9A227"/>
          </a:solidFill>
          <a:ln/>
        </p:spPr>
      </p:sp>
      <p:sp>
        <p:nvSpPr>
          <p:cNvPr id="15" name="Text 12"/>
          <p:cNvSpPr/>
          <p:nvPr/>
        </p:nvSpPr>
        <p:spPr>
          <a:xfrm>
            <a:off x="4617720" y="4700016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08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自由なページ設計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39712" y="1399032"/>
            <a:ext cx="4928616" cy="3353419"/>
          </a:xfrm>
          <a:prstGeom prst="roundRect">
            <a:avLst>
              <a:gd name="adj" fmla="val 1909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7" name="Image 1" descr="/home/user/ume/docs/images/sales/pub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800600" cy="322540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03720" y="4791456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実際の掲載イメージ(トップページ)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77240" y="58704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店舗様向け ご提案資料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風俗Zeroとは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エリア・ジャンル・料金・キャストの条件から探せる総合ポータル。店舗ページ・女の子ページ・写メ日記・出勤・クーポンをまとめて掲載できます。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947672"/>
            <a:ext cx="3630168" cy="2481024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7" name="Image 1" descr="/home/user/ume/docs/images/sales/pub_cas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11680"/>
            <a:ext cx="3502152" cy="2353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480560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女の子検索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66928" y="4846320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エリア・ジャンル・年齢・スリーサイズ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など条件で横断検索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89120" y="1947672"/>
            <a:ext cx="3630168" cy="2481024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1" name="Image 2" descr="/home/user/ume/docs/images/sales/pub_shop_stand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2011680"/>
            <a:ext cx="3502152" cy="23530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53128" y="4480560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店舗ページ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453128" y="4846320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ブロック構成で自由に組める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店舗の“顔”になるページ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275320" y="1947672"/>
            <a:ext cx="3630168" cy="2481024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5" name="Image 3" descr="/home/user/ume/docs/images/sales/pub_cast_deta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011680"/>
            <a:ext cx="3502152" cy="23530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39328" y="4480560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女の子ページ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8339328" y="4846320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プロフィール・出勤・日記・口コミを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1ページに集約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風俗Zero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選ばれる3つの理由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「手間をかけずに」「集客につながり」「自店らしく見せられる」— この3点にこだわっています。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56816"/>
            <a:ext cx="3502152" cy="3803904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7824" y="2286000"/>
            <a:ext cx="530352" cy="530352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8" name="Text 5"/>
          <p:cNvSpPr/>
          <p:nvPr/>
        </p:nvSpPr>
        <p:spPr>
          <a:xfrm>
            <a:off x="877824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517904" y="23774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" y="29992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体験動画を</a:t>
            </a:r>
            <a:endParaRPr lang="en-US" sz="17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撮影から掲載まで代行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877824" y="4041648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撮影・編集・アップロードまで弊社が担当。店舗様にご用意いただくものはありません。動画は店舗ページと体験動画一覧の両方に掲載されます。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453128" y="1956816"/>
            <a:ext cx="3502152" cy="3803904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64024" y="2286000"/>
            <a:ext cx="530352" cy="530352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4" name="Text 11"/>
          <p:cNvSpPr/>
          <p:nvPr/>
        </p:nvSpPr>
        <p:spPr>
          <a:xfrm>
            <a:off x="4764024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404104" y="23774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764024" y="29992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プレゼント企画で</a:t>
            </a:r>
            <a:endParaRPr lang="en-US" sz="17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新規とリピートを獲得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4764024" y="4041648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抽選プレゼントをワンクリックで開催。応募にはSMS認証が必須のため、いたずら応募を防ぎながら会員との接点をつくれます。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339328" y="1956816"/>
            <a:ext cx="3502152" cy="3803904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650224" y="2286000"/>
            <a:ext cx="530352" cy="530352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0" name="Text 17"/>
          <p:cNvSpPr/>
          <p:nvPr/>
        </p:nvSpPr>
        <p:spPr>
          <a:xfrm>
            <a:off x="8650224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290304" y="23774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03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650224" y="29992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ページ構成もデザインも</a:t>
            </a:r>
            <a:endParaRPr lang="en-US" sz="17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店舗様の自由</a:t>
            </a:r>
            <a:endParaRPr lang="en-US" sz="1750" dirty="0"/>
          </a:p>
        </p:txBody>
      </p:sp>
      <p:sp>
        <p:nvSpPr>
          <p:cNvPr id="23" name="Text 20"/>
          <p:cNvSpPr/>
          <p:nvPr/>
        </p:nvSpPr>
        <p:spPr>
          <a:xfrm>
            <a:off x="8650224" y="4041648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10種類のブロックを並び替え・表示切替でき、背景色・文字色・基調色・背景画像まで管理画面から変更できます。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01 — 体験動画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撮影から掲載まで、すべて弊社が代行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店舗様の作業はゼロ。撮影の日程調整だけで、公開まで弊社が対応します。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47088"/>
            <a:ext cx="3502152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" y="201168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41248" y="22311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撮影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2688336"/>
            <a:ext cx="2953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弊社スタッフが店舗様へ訪問し撮影。機材・人員のご用意は不要です。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087368" y="2414016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35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453128" y="1847088"/>
            <a:ext cx="3502152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727448" y="201168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27448" y="22311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編集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4727448" y="2688336"/>
            <a:ext cx="2953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テロップ・尺の調整まで弊社で編集。掲載に適した形へ仕上げます。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973568" y="2414016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35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339328" y="1847088"/>
            <a:ext cx="3502152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613648" y="201168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613648" y="22311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掲載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613648" y="2688336"/>
            <a:ext cx="2953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運営側でアップロード。容量の大きい動画もそのまま掲載できます。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3666744"/>
            <a:ext cx="5934456" cy="2688747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21" name="Image 1" descr="/home/user/ume/docs/images/sales/pub_vide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30752"/>
            <a:ext cx="5806440" cy="2560731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720840" y="3666744"/>
            <a:ext cx="4901184" cy="2633472"/>
          </a:xfrm>
          <a:prstGeom prst="roundRect">
            <a:avLst>
              <a:gd name="adj" fmla="val 3472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6940296" y="38587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動画がもたらす効果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940296" y="4279392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文字と写真だけでは伝わらない店内・接客の雰囲気を訴求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「体験動画」一覧ページからの新規流入を獲得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店舗ページ内の動画ブロックにも自動で表示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撮り直し・差し替えのご相談も随時対応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02 — プレゼント企画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新規集客とリピートを、同時に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抽選企画の作成から当落メール送信まで、管理画面だけで完結します。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92808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33856" y="181051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企画を作成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33856" y="212140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企画名・当選人数・応募締切を入力するだけ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33856" y="2523744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会員が応募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33856" y="283464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店舗ページから会員がワンタップで応募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3319272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33856" y="3236976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ワンクリック抽選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33856" y="3547872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締切後、当選者を自動でランダム抽選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032504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33856" y="395020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当落メール送信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33856" y="4261104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当選・落選を一斉送信。送信済みは再送されません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4809744"/>
            <a:ext cx="54864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22960" y="4937760"/>
            <a:ext cx="4974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204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集客につながる理由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22960" y="5266944"/>
            <a:ext cx="4974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応募にはSMS認証が必須 — いたずら応募を防ぎ、実在の見込み客だけが集まる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締切前はお気に入り会員へリマインドメールが自動配信され、再訪を促せる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36792" y="1783080"/>
            <a:ext cx="5349240" cy="1565892"/>
          </a:xfrm>
          <a:prstGeom prst="roundRect">
            <a:avLst>
              <a:gd name="adj" fmla="val 4088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26" name="Image 1" descr="/home/user/ume/docs/images/sales/sa_present_ind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7088"/>
            <a:ext cx="5221224" cy="143787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400800" y="3438144"/>
            <a:ext cx="5221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管理画面:企画の登録と応募状況の確認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336792" y="3922776"/>
            <a:ext cx="5349240" cy="1707337"/>
          </a:xfrm>
          <a:prstGeom prst="roundRect">
            <a:avLst>
              <a:gd name="adj" fmla="val 3749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29" name="Image 2" descr="/home/user/ume/docs/images/sales/pub_present_s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86784"/>
            <a:ext cx="5221224" cy="1579321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00800" y="5705856"/>
            <a:ext cx="5221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公開ページ:会員はワンタップで応募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03 — ページ構成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ブロックを、店舗様が自由に組み替え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10種類のブロックを、並び替え・表示/非表示・背景色の設定で自由に構成できます。制作会社への依頼は不要です。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783080"/>
            <a:ext cx="6071616" cy="4121372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7" name="Image 1" descr="/home/user/ume/docs/images/sales/sa_bloc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7088"/>
            <a:ext cx="5943600" cy="39933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9618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管理画面「ページ構成(ブロック管理)」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858000" y="1847088"/>
            <a:ext cx="4764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使えるブロック(10種類)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858000" y="228600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11" name="Text 7"/>
          <p:cNvSpPr/>
          <p:nvPr/>
        </p:nvSpPr>
        <p:spPr>
          <a:xfrm>
            <a:off x="685800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店舗フォトギャラリー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9336024" y="228600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13" name="Text 9"/>
          <p:cNvSpPr/>
          <p:nvPr/>
        </p:nvSpPr>
        <p:spPr>
          <a:xfrm>
            <a:off x="9336024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58000" y="278892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15" name="Text 11"/>
          <p:cNvSpPr/>
          <p:nvPr/>
        </p:nvSpPr>
        <p:spPr>
          <a:xfrm>
            <a:off x="6858000" y="2788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新人・体験入店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336024" y="278892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17" name="Text 13"/>
          <p:cNvSpPr/>
          <p:nvPr/>
        </p:nvSpPr>
        <p:spPr>
          <a:xfrm>
            <a:off x="9336024" y="2788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店長おすすめ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29184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19" name="Text 15"/>
          <p:cNvSpPr/>
          <p:nvPr/>
        </p:nvSpPr>
        <p:spPr>
          <a:xfrm>
            <a:off x="6858000" y="3291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写メ日記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9336024" y="329184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21" name="Text 17"/>
          <p:cNvSpPr/>
          <p:nvPr/>
        </p:nvSpPr>
        <p:spPr>
          <a:xfrm>
            <a:off x="9336024" y="3291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週間出勤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858000" y="379476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0" y="37947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口コミランキング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9336024" y="379476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25" name="Text 21"/>
          <p:cNvSpPr/>
          <p:nvPr/>
        </p:nvSpPr>
        <p:spPr>
          <a:xfrm>
            <a:off x="9336024" y="37947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クーポン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858000" y="429768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27" name="Text 23"/>
          <p:cNvSpPr/>
          <p:nvPr/>
        </p:nvSpPr>
        <p:spPr>
          <a:xfrm>
            <a:off x="6858000" y="42976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料金表・オプション表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336024" y="429768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FDF3F7"/>
          </a:solidFill>
          <a:ln/>
        </p:spPr>
      </p:sp>
      <p:sp>
        <p:nvSpPr>
          <p:cNvPr id="29" name="Text 25"/>
          <p:cNvSpPr/>
          <p:nvPr/>
        </p:nvSpPr>
        <p:spPr>
          <a:xfrm>
            <a:off x="9336024" y="42976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20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フリーテキスト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6858000" y="4937760"/>
            <a:ext cx="4764024" cy="1207008"/>
          </a:xfrm>
          <a:prstGeom prst="roundRect">
            <a:avLst>
              <a:gd name="adj" fmla="val 7576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7095744" y="5102352"/>
            <a:ext cx="4288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▲▼ボタンで並び替え、ワンクリックで表示/非表示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女の子ページも同様に2カラムで構成を変更可能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03 — デザイン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色も背景も、自店らしく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背景色・基調文字色・基調色(ボタンやバッジの色)・背景画像を、管理画面から設定できます。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73936"/>
            <a:ext cx="5394960" cy="347472"/>
          </a:xfrm>
          <a:prstGeom prst="roundRect">
            <a:avLst>
              <a:gd name="adj" fmla="val 52632"/>
            </a:avLst>
          </a:prstGeom>
          <a:solidFill>
            <a:srgbClr val="7C7280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77393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標準デザイン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2112264"/>
            <a:ext cx="5522976" cy="3752755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9" name="Image 1" descr="/home/user/ume/docs/images/sales/pub_shop_stand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76272"/>
            <a:ext cx="5394960" cy="3624739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27064" y="1773936"/>
            <a:ext cx="5394960" cy="347472"/>
          </a:xfrm>
          <a:prstGeom prst="roundRect">
            <a:avLst>
              <a:gd name="adj" fmla="val 52632"/>
            </a:avLst>
          </a:prstGeom>
          <a:solidFill>
            <a:srgbClr val="E0356B"/>
          </a:solidFill>
          <a:ln/>
        </p:spPr>
      </p:sp>
      <p:sp>
        <p:nvSpPr>
          <p:cNvPr id="11" name="Text 7"/>
          <p:cNvSpPr/>
          <p:nvPr/>
        </p:nvSpPr>
        <p:spPr>
          <a:xfrm>
            <a:off x="6227064" y="177393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カスタマイズ例(背景・文字・基調色を変更)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63056" y="2112264"/>
            <a:ext cx="5522976" cy="3752755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3" name="Image 2" descr="/home/user/ume/docs/images/sales/pub_shop_them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176272"/>
            <a:ext cx="5394960" cy="36247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" y="599846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白いカード内の文字色は自動で読みやすさを保つため、背景を濃くしても店舗情報が読めなくなることはありません。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“店舗会員証”でリピーターを育てる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来店回数に応じて自動ランクアップ。ポイントと特典で再来店の動機をつくります。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783080"/>
            <a:ext cx="3877056" cy="2123828"/>
          </a:xfrm>
          <a:prstGeom prst="roundRect">
            <a:avLst>
              <a:gd name="adj" fmla="val 3014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7" name="Image 1" descr="/home/user/ume/docs/images/sales/member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7088"/>
            <a:ext cx="3749040" cy="19958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0416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会員証には店舗名・会員名・会員番号・発行日を表示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4462272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来店回数に応じてランクが自動で上がる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ランク到達で割引券・無料券を自動付与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来店ごとのポイント加算・利用も記録できる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会員証のデザインはランクごとに差し替え可能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事故歴・注意点は店舗内だけで共有(会員には非表示)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45352" y="1783080"/>
            <a:ext cx="5440680" cy="3697462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1" name="Image 2" descr="/home/user/ume/docs/images/sales/sa_ran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47088"/>
            <a:ext cx="5312664" cy="356944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09360" y="5559552"/>
            <a:ext cx="5312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管理画面:ランクと特典の設定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クーポンは「最安値バッジ」と利用実績まで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コース単位で登録でき、サイト内のクーポン一覧にも自動掲載。効果は利用実績で確認できます。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783080"/>
            <a:ext cx="5705856" cy="3875627"/>
          </a:xfrm>
          <a:prstGeom prst="roundRect">
            <a:avLst>
              <a:gd name="adj" fmla="val 1652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7" name="Image 1" descr="/home/user/ume/docs/images/sales/pub_coup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7088"/>
            <a:ext cx="5577840" cy="374761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7424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公開ページ:クーポンで探す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428232" y="1783080"/>
            <a:ext cx="5257800" cy="1540710"/>
          </a:xfrm>
          <a:prstGeom prst="roundRect">
            <a:avLst>
              <a:gd name="adj" fmla="val 4154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0" name="Image 2" descr="/home/user/ume/docs/images/sales/sa_coup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5129784" cy="14126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92240" y="3383280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管理画面:クーポン管理と利用実績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492240" y="3822192"/>
            <a:ext cx="5129784" cy="2176272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6729984" y="4005072"/>
            <a:ext cx="46542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同一コースで最も安いクーポンに「最安値」バッジを自動表示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ネット予約のクリックは自動で利用実績として記録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来店・電話予約はボタン1つで手動記録でき、経路別に集計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期間を過ぎたクーポンは自動で非表示。削除の手間なし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 SUPPORT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日々の更新は、キャスト本人がかんたんに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写メ日記も出勤予定もキャスト本人が更新可能。店舗側の入力負担を減らします。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73936"/>
            <a:ext cx="5394960" cy="347472"/>
          </a:xfrm>
          <a:prstGeom prst="roundRect">
            <a:avLst>
              <a:gd name="adj" fmla="val 52632"/>
            </a:avLst>
          </a:prstGeom>
          <a:solidFill>
            <a:srgbClr val="E0356B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77393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写メ日記 — AIが下書きを作成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2093976"/>
            <a:ext cx="5522976" cy="3785616"/>
          </a:xfrm>
          <a:prstGeom prst="roundRect">
            <a:avLst>
              <a:gd name="adj" fmla="val 1691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9" name="Image 1" descr="/home/user/ume/docs/images/sales/cast_portal_diary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7984"/>
            <a:ext cx="5394960" cy="3657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943600"/>
            <a:ext cx="539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伝えたいことを一言入れるだけで日記の下書きを自動生成。更新頻度を保てます。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27064" y="1773936"/>
            <a:ext cx="5394960" cy="347472"/>
          </a:xfrm>
          <a:prstGeom prst="roundRect">
            <a:avLst>
              <a:gd name="adj" fmla="val 52632"/>
            </a:avLst>
          </a:prstGeom>
          <a:solidFill>
            <a:srgbClr val="7B3F98"/>
          </a:solidFill>
          <a:ln/>
        </p:spPr>
      </p:sp>
      <p:sp>
        <p:nvSpPr>
          <p:cNvPr id="12" name="Text 8"/>
          <p:cNvSpPr/>
          <p:nvPr/>
        </p:nvSpPr>
        <p:spPr>
          <a:xfrm>
            <a:off x="6227064" y="177393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出勤予定 — 期間×曜日で一括登録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63056" y="2093976"/>
            <a:ext cx="5522976" cy="3752755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4" name="Image 2" descr="/home/user/ume/docs/images/sales/sa_shif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157984"/>
            <a:ext cx="5394960" cy="362473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27064" y="5943600"/>
            <a:ext cx="539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店舗側は期間と曜日を選ぶだけで一括登録。CSV取り込みにも対応しています。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キャスト専用ポータルは“バレにくさ”に配慮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在籍キャストが人前でスマホを開いても、業種が分かりにくい設計にしています。求人・定着の訴求材料にもなります。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819656"/>
            <a:ext cx="5934456" cy="4064585"/>
          </a:xfrm>
          <a:prstGeom prst="roundRect">
            <a:avLst>
              <a:gd name="adj" fmla="val 1575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7" name="Image 1" descr="/home/user/ume/docs/images/sales/cast_portal_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83664"/>
            <a:ext cx="5806440" cy="393656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20840" y="1920240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9" name="Text 5"/>
          <p:cNvSpPr/>
          <p:nvPr/>
        </p:nvSpPr>
        <p:spPr>
          <a:xfrm>
            <a:off x="67208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287768" y="1847088"/>
            <a:ext cx="4334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専用ドメインで運用できる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287768" y="2176272"/>
            <a:ext cx="4334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サイト本体とは別の、業種を連想させないURLでのみ開ける設定にできます。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720840" y="2944368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3" name="Text 9"/>
          <p:cNvSpPr/>
          <p:nvPr/>
        </p:nvSpPr>
        <p:spPr>
          <a:xfrm>
            <a:off x="672084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87768" y="2871216"/>
            <a:ext cx="4334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サイト名もロゴも出さない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287768" y="3200400"/>
            <a:ext cx="4334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画面上の表記は「スタッフポータル」。ログイン画面から中立デザインです。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720840" y="3968496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7" name="Text 13"/>
          <p:cNvSpPr/>
          <p:nvPr/>
        </p:nvSpPr>
        <p:spPr>
          <a:xfrm>
            <a:off x="672084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87768" y="3895344"/>
            <a:ext cx="4334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ホーム画面に追加しても安心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287768" y="4224528"/>
            <a:ext cx="4334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アイコン名も「スタッフポータル」。並んでいても分かりません。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720840" y="4992624"/>
            <a:ext cx="384048" cy="38404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1" name="Text 17"/>
          <p:cNvSpPr/>
          <p:nvPr/>
        </p:nvSpPr>
        <p:spPr>
          <a:xfrm>
            <a:off x="67208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287768" y="4919472"/>
            <a:ext cx="4334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本人が出勤・日記を更新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7287768" y="5248656"/>
            <a:ext cx="4334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プロフィール・出勤予定・写メ日記をキャスト本人が管理できます。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5E0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645920"/>
            <a:ext cx="3657600" cy="3657600"/>
          </a:xfrm>
          <a:prstGeom prst="ellipse">
            <a:avLst/>
          </a:prstGeom>
          <a:solidFill>
            <a:srgbClr val="7B3F9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3291840" cy="3291840"/>
          </a:xfrm>
          <a:prstGeom prst="ellipse">
            <a:avLst/>
          </a:prstGeom>
          <a:solidFill>
            <a:srgbClr val="E0356B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C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掲載効果は「数字」で確認できます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店舗ページ・女の子ページそれぞれの閲覧数を、日別の推移とランキングで確認できます。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0326319" y="329184"/>
            <a:ext cx="129844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7759" y="411480"/>
            <a:ext cx="1115568" cy="3749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10512"/>
            <a:ext cx="5394960" cy="347472"/>
          </a:xfrm>
          <a:prstGeom prst="roundRect">
            <a:avLst>
              <a:gd name="adj" fmla="val 52632"/>
            </a:avLst>
          </a:prstGeom>
          <a:solidFill>
            <a:srgbClr val="E0356B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1810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店舗ページ別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5522976" cy="3752755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2" name="Image 1" descr="/home/user/ume/docs/images/sales/ad_analytics_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12848"/>
            <a:ext cx="5394960" cy="362473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227064" y="1810512"/>
            <a:ext cx="5394960" cy="347472"/>
          </a:xfrm>
          <a:prstGeom prst="roundRect">
            <a:avLst>
              <a:gd name="adj" fmla="val 52632"/>
            </a:avLst>
          </a:prstGeom>
          <a:solidFill>
            <a:srgbClr val="C9A227"/>
          </a:solidFill>
          <a:ln/>
        </p:spPr>
      </p:sp>
      <p:sp>
        <p:nvSpPr>
          <p:cNvPr id="14" name="Text 10"/>
          <p:cNvSpPr/>
          <p:nvPr/>
        </p:nvSpPr>
        <p:spPr>
          <a:xfrm>
            <a:off x="6227064" y="1810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B08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女の子ページ別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63056" y="2148840"/>
            <a:ext cx="5522976" cy="3752755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77800" dist="38100" dir="5400000">
              <a:srgbClr val="2E0714">
                <a:alpha val="20000"/>
              </a:srgbClr>
            </a:outerShdw>
          </a:effectLst>
        </p:spPr>
      </p:sp>
      <p:pic>
        <p:nvPicPr>
          <p:cNvPr id="16" name="Image 2" descr="/home/user/ume/docs/images/sales/ad_analytics_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212848"/>
            <a:ext cx="5394960" cy="36247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直近30日の日別推移／閲覧数の多い順ランキング(累計・直近30日の両方を表示)。どの女の子が集客できているかまで把握できます。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FFC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3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その他の標準搭載機能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掲載プランに関わらず、以下の機能をすべてご利用いただけます。</a:t>
            </a:r>
            <a:endParaRPr lang="en-US" sz="1350" dirty="0"/>
          </a:p>
        </p:txBody>
      </p:sp>
      <p:pic>
        <p:nvPicPr>
          <p:cNvPr id="5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9199" y="420624"/>
            <a:ext cx="1115568" cy="3749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93392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2249424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8" name="Text 5"/>
          <p:cNvSpPr/>
          <p:nvPr/>
        </p:nvSpPr>
        <p:spPr>
          <a:xfrm>
            <a:off x="1188720" y="2194560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口コミ管理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2688336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店舗からの返信と定型文テンプレートに対応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74136" y="1993392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11880" y="2249424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2" name="Text 9"/>
          <p:cNvSpPr/>
          <p:nvPr/>
        </p:nvSpPr>
        <p:spPr>
          <a:xfrm>
            <a:off x="3995928" y="2194560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SMS認証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611880" y="2688336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会員は電話番号認証済み。荒らし・不正応募を抑止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81344" y="1993392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19088" y="2249424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6" name="Text 13"/>
          <p:cNvSpPr/>
          <p:nvPr/>
        </p:nvSpPr>
        <p:spPr>
          <a:xfrm>
            <a:off x="6803136" y="2194560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画像モデレーション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19088" y="2688336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不適切な写真は運営側で個別に非公開化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88552" y="1993392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9226296" y="2249424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0" name="Text 17"/>
          <p:cNvSpPr/>
          <p:nvPr/>
        </p:nvSpPr>
        <p:spPr>
          <a:xfrm>
            <a:off x="9610344" y="2194560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お気に入り通知メール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226296" y="2688336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新着日記・本日出勤を会員へ自動配信し再訪を促進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04672" y="4005072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4" name="Text 21"/>
          <p:cNvSpPr/>
          <p:nvPr/>
        </p:nvSpPr>
        <p:spPr>
          <a:xfrm>
            <a:off x="1188720" y="3950208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ランキング掲載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04672" y="4443984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閲覧数・口コミ評価をもとにサイト内で露出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374136" y="3749040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611880" y="4005072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8" name="Text 25"/>
          <p:cNvSpPr/>
          <p:nvPr/>
        </p:nvSpPr>
        <p:spPr>
          <a:xfrm>
            <a:off x="3995928" y="3950208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エリア・ジャンル検索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611880" y="4443984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料金やカップ数など条件検索の対象に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81344" y="3749040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19088" y="4005072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32" name="Text 29"/>
          <p:cNvSpPr/>
          <p:nvPr/>
        </p:nvSpPr>
        <p:spPr>
          <a:xfrm>
            <a:off x="6803136" y="3950208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PRバッジ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419088" y="4443984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表示期間を店舗様ご自身で設定可能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988552" y="3749040"/>
            <a:ext cx="2651760" cy="1572768"/>
          </a:xfrm>
          <a:prstGeom prst="roundRect">
            <a:avLst>
              <a:gd name="adj" fmla="val 5814"/>
            </a:avLst>
          </a:prstGeom>
          <a:solidFill>
            <a:srgbClr val="FDF3F7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226296" y="4005072"/>
            <a:ext cx="292608" cy="292608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36" name="Text 33"/>
          <p:cNvSpPr/>
          <p:nvPr/>
        </p:nvSpPr>
        <p:spPr>
          <a:xfrm>
            <a:off x="9610344" y="3950208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日次自動バックアップ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226296" y="4443984"/>
            <a:ext cx="21762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データは毎日自動で保全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66928" y="5504688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841248" y="5632704"/>
            <a:ext cx="105091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A2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掲載プランはフリー／スタンダード／プレミアムの3段階。プランにより検索結果での掲載順位の優先度と「Zeroお勧め」バッジの有無が変わります(料金は別途ご案内)。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7C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E0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389120"/>
            <a:ext cx="3840480" cy="3840480"/>
          </a:xfrm>
          <a:prstGeom prst="ellipse">
            <a:avLst/>
          </a:prstGeom>
          <a:solidFill>
            <a:srgbClr val="E0356B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828800"/>
            <a:ext cx="3291840" cy="3291840"/>
          </a:xfrm>
          <a:prstGeom prst="ellipse">
            <a:avLst/>
          </a:prstGeom>
          <a:solidFill>
            <a:srgbClr val="7B3F98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657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C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CONTACT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548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6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掲載までの流れ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1316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お問い合わせから公開まで、専任の担当がサポートいたします。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0326319" y="329184"/>
            <a:ext cx="129844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ume/docs/images/sales/logo_h_alp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7759" y="411480"/>
            <a:ext cx="1115568" cy="3749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83664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" y="2103120"/>
            <a:ext cx="420624" cy="420624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4672" y="2651760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お問い合わせ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4672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サイトの「掲載のお問い合わせ」フォーム、またはご担当者まで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18688" y="2615184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374136" y="1883664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11880" y="2103120"/>
            <a:ext cx="420624" cy="420624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17" name="Text 14"/>
          <p:cNvSpPr/>
          <p:nvPr/>
        </p:nvSpPr>
        <p:spPr>
          <a:xfrm>
            <a:off x="361188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611880" y="2651760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ヒアリング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11880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掲載内容・プラン・撮影日程をご相談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025896" y="2615184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81344" y="1883664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19088" y="2103120"/>
            <a:ext cx="420624" cy="420624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3" name="Text 20"/>
          <p:cNvSpPr/>
          <p:nvPr/>
        </p:nvSpPr>
        <p:spPr>
          <a:xfrm>
            <a:off x="641908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19088" y="2651760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撮影・ページ制作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19088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体験動画の撮影・編集、店舗ページを準備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833104" y="2615184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2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988552" y="1883664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BDDE4"/>
            </a:solidFill>
            <a:prstDash val="solid"/>
          </a:ln>
          <a:effectLst>
            <a:outerShdw sx="100000" sy="100000" kx="0" ky="0" algn="bl" rotWithShape="0" blurRad="127000" dist="25400" dir="5400000">
              <a:srgbClr val="2E0714">
                <a:alpha val="13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226296" y="2103120"/>
            <a:ext cx="420624" cy="420624"/>
          </a:xfrm>
          <a:prstGeom prst="ellipse">
            <a:avLst/>
          </a:prstGeom>
          <a:solidFill>
            <a:srgbClr val="E0356B"/>
          </a:solidFill>
          <a:ln/>
        </p:spPr>
      </p:sp>
      <p:sp>
        <p:nvSpPr>
          <p:cNvPr id="29" name="Text 26"/>
          <p:cNvSpPr/>
          <p:nvPr/>
        </p:nvSpPr>
        <p:spPr>
          <a:xfrm>
            <a:off x="92262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226296" y="2651760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公開・運用サポート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226296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C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公開後もページ構成や企画運用をサポート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133088"/>
            <a:ext cx="11057839" cy="1554480"/>
          </a:xfrm>
          <a:prstGeom prst="roundRect">
            <a:avLst>
              <a:gd name="adj" fmla="val 8235"/>
            </a:avLst>
          </a:prstGeom>
          <a:solidFill>
            <a:srgbClr val="E0356B"/>
          </a:solidFill>
          <a:ln/>
          <a:effectLst>
            <a:outerShdw sx="100000" sy="100000" kx="0" ky="0" algn="bl" rotWithShape="0" blurRad="228600" dist="50800" dir="5400000">
              <a:srgbClr val="2E0714">
                <a:alpha val="32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1024128" y="433425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掲載のご相談・お見積りはお気軽にどうぞ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1024128" y="484632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E3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サイト内「掲載のお問い合わせ」フォーム、または担当者へご連絡ください。掲載プラン・料金は内容に応じて個別にご案内いたします。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566928" y="592531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FFC2D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ゼロから始める風俗体験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FFC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風俗Zero 掲載のご案内</dc:title>
  <dc:subject>PptxGenJS Presentation</dc:subject>
  <dc:creator>風俗Zero</dc:creator>
  <cp:lastModifiedBy>風俗Zero</cp:lastModifiedBy>
  <cp:revision>1</cp:revision>
  <dcterms:created xsi:type="dcterms:W3CDTF">2026-08-09T23:43:58Z</dcterms:created>
  <dcterms:modified xsi:type="dcterms:W3CDTF">2026-08-09T23:43:58Z</dcterms:modified>
</cp:coreProperties>
</file>